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D8C61-A13C-D618-ECCC-8D2347FA55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28F45F-C3F4-EC89-E286-AD687DD325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91CE7-F9AA-C0B6-2897-2F1EFA5E1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1A71F-640D-4711-8D43-AF802C57BFAB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C1A67-9145-DC19-2138-73AA40237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74F8A-41C7-82F5-B27C-5663D6183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2CFE-0F88-4E0A-B6E6-323F655F6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9126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2964C-7503-DCCE-3B0D-FAD4FFA94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E4B77-0FD9-4388-441C-EF603685D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73555-AA0E-DAEA-A911-14E9F3B83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1A71F-640D-4711-8D43-AF802C57BFAB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05053-2ADC-74B3-8664-5554E2C2C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83C10-2317-5013-2FB2-91AF911CC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2CFE-0F88-4E0A-B6E6-323F655F6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052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C940C-D118-88DE-0E21-BF980C386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5BD6DE-7AF1-6CD5-F772-B92E0B524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E69D2-F271-B72A-D11B-AF72BFC13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1A71F-640D-4711-8D43-AF802C57BFAB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9E8F7-9A01-B509-4A6B-68C1842D8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03B10-3F79-C4FC-7B03-3DBA55A31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2CFE-0F88-4E0A-B6E6-323F655F6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4983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5CDF2-265C-A5E5-F325-AAE243644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67234-BCCA-39BB-E261-1F9A23FE0B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2E0008-E78D-12E3-7985-479EF2C78E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CE0F6E-F801-D243-C480-E26E7E083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1A71F-640D-4711-8D43-AF802C57BFAB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A10CC8-665F-93B5-49C2-25B370744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341E0-F8AB-3B6C-7A07-4F891EFE0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2CFE-0F88-4E0A-B6E6-323F655F6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995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5CB81-0372-97F6-F5B4-2901F2C87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858E8-70DC-D7EC-51CE-A549777FE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79D7A7-DFA8-7531-3EDD-D1B952647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766073-E02B-82BE-E6CE-E5C7490E1B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836B0B-4276-C8F7-6F17-46135527EE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AC1F27-5074-F9FC-F405-10F107320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1A71F-640D-4711-8D43-AF802C57BFAB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FF6CA8-6D51-21B4-7A1B-41EC5E82F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B0CCB5-3FE6-D250-AF92-091622314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2CFE-0F88-4E0A-B6E6-323F655F6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295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99A6A-A45F-5AE9-2886-23F4F0ABF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E7882E-D47C-7A5F-16C4-6FA665C53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1A71F-640D-4711-8D43-AF802C57BFAB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CEF933-8AF4-70E6-98F7-F8B123971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A3882D-9DE9-85A5-794C-5DE295093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2CFE-0F88-4E0A-B6E6-323F655F6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670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8B8A0B-EDFA-133C-1EE3-BBF10D901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1A71F-640D-4711-8D43-AF802C57BFAB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63F2E7-30EC-945C-9234-9159D3EA9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4A8FB-84B1-06AF-7FE0-73ACD1E0D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2CFE-0F88-4E0A-B6E6-323F655F6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161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11EC0-221F-8D28-2C98-05071A103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F893A-BACA-7490-2FE2-D98476417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7BF949-E78B-7641-2A50-B5ECDDA4DC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F2E9C-8575-DBA0-3C1B-06BCB5CB9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1A71F-640D-4711-8D43-AF802C57BFAB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310D35-4841-DDE9-A48B-E4A5DD4F6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9C94C-93BE-22C7-196F-E26C082F8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2CFE-0F88-4E0A-B6E6-323F655F6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06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5FA30-5244-12B2-3983-373074415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2DF0B-D19C-1B3C-E99A-88B665CC8F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9FFB4F-DF88-B208-B072-47C2A6E48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EF74B-9D5D-FEC4-4450-DDD37F4EA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1A71F-640D-4711-8D43-AF802C57BFAB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4A410E-980F-FD7E-1A44-A54E78DA6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D98D3-EF8D-6D7C-1D1E-A90D52953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2CFE-0F88-4E0A-B6E6-323F655F6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836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788D-7A70-3194-9938-6889DF107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13A5CC-42A3-C70B-7F52-6ADE44BEF2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47D93-437E-5B8C-3B39-8350BE2FF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1A71F-640D-4711-8D43-AF802C57BFAB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A2F6C-064C-6E5C-9E26-440B5B90C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4415A-1374-0520-4F8F-86C64DF7D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2CFE-0F88-4E0A-B6E6-323F655F6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079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CA2086-FCD0-AFCC-B37E-FA187261EC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5B6322-671A-6C5B-3D74-3EDDF51AB8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06568-3BD0-C1EB-0DB4-ED663A89A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1A71F-640D-4711-8D43-AF802C57BFAB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C103D-6320-739C-6C50-49051D41E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AE28C-3D47-9D54-2758-5A5EC448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2CFE-0F88-4E0A-B6E6-323F655F6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193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50EEE9-1C5E-451D-2851-B5DEBE492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8C96E-4EB3-1D38-C89B-0B6CA0443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96AF3-45F8-8F7B-BD56-FC9966831E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1A71F-640D-4711-8D43-AF802C57BFAB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57201-C1BF-9821-2707-A26189F144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45C9B-0374-DDFE-6CD8-80C97F40B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72CFE-0F88-4E0A-B6E6-323F655F6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468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ayandipsen03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F437C-BDD1-2EA3-9A7C-ABC11F2A5D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Mutual Fund Analytics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9DB957-F71B-DCBD-5F15-6044F867EE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Prepared by: </a:t>
            </a:r>
            <a:r>
              <a:rPr lang="en-US" dirty="0" err="1"/>
              <a:t>Sayandip</a:t>
            </a:r>
            <a:r>
              <a:rPr lang="en-US" dirty="0"/>
              <a:t> Sen</a:t>
            </a:r>
          </a:p>
          <a:p>
            <a:pPr algn="l"/>
            <a:r>
              <a:rPr lang="en-US" dirty="0"/>
              <a:t>Email: </a:t>
            </a:r>
            <a:r>
              <a:rPr lang="en-US" dirty="0">
                <a:hlinkClick r:id="rId2"/>
              </a:rPr>
              <a:t>sayandipsen03@gmail.com</a:t>
            </a:r>
            <a:endParaRPr lang="en-US" dirty="0"/>
          </a:p>
          <a:p>
            <a:pPr algn="l"/>
            <a:r>
              <a:rPr lang="en-IN" dirty="0"/>
              <a:t>Organization: </a:t>
            </a:r>
            <a:r>
              <a:rPr lang="en-IN" dirty="0" err="1"/>
              <a:t>Bluestock</a:t>
            </a:r>
            <a:r>
              <a:rPr lang="en-IN" dirty="0"/>
              <a:t> Fintech</a:t>
            </a:r>
          </a:p>
        </p:txBody>
      </p:sp>
    </p:spTree>
    <p:extLst>
      <p:ext uri="{BB962C8B-B14F-4D97-AF65-F5344CB8AC3E}">
        <p14:creationId xmlns:p14="http://schemas.microsoft.com/office/powerpoint/2010/main" val="490658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690B8-DDE9-33B5-C6F6-377422BA7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7BC87-B25D-33E3-6A4B-C1B049922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Problem Statement</a:t>
            </a:r>
          </a:p>
          <a:p>
            <a:r>
              <a:rPr lang="en-IN" dirty="0"/>
              <a:t>The mutual fund industry generates large volumes of financial and investor data. Extracting meaningful insights from this data requires a structured analytics platform capable of integrating data engineering, financial analysis, and business intelligence.</a:t>
            </a:r>
          </a:p>
          <a:p>
            <a:r>
              <a:rPr lang="en-IN" b="1" dirty="0"/>
              <a:t>Project Objectives</a:t>
            </a:r>
          </a:p>
          <a:p>
            <a:r>
              <a:rPr lang="en-IN" dirty="0"/>
              <a:t>Build a complete ETL pipeline </a:t>
            </a:r>
          </a:p>
          <a:p>
            <a:r>
              <a:rPr lang="en-IN" dirty="0" err="1"/>
              <a:t>Analyze</a:t>
            </a:r>
            <a:r>
              <a:rPr lang="en-IN" dirty="0"/>
              <a:t> mutual fund performance </a:t>
            </a:r>
          </a:p>
          <a:p>
            <a:r>
              <a:rPr lang="en-IN" dirty="0"/>
              <a:t>Evaluate investor </a:t>
            </a:r>
            <a:r>
              <a:rPr lang="en-IN" dirty="0" err="1"/>
              <a:t>behavior</a:t>
            </a:r>
            <a:r>
              <a:rPr lang="en-IN" dirty="0"/>
              <a:t> and SIP trends </a:t>
            </a:r>
          </a:p>
          <a:p>
            <a:r>
              <a:rPr lang="en-IN" dirty="0"/>
              <a:t>Develop risk analytics models </a:t>
            </a:r>
          </a:p>
          <a:p>
            <a:r>
              <a:rPr lang="en-IN" dirty="0"/>
              <a:t>Create interactive Power BI dashboards </a:t>
            </a:r>
          </a:p>
          <a:p>
            <a:r>
              <a:rPr lang="en-IN" dirty="0"/>
              <a:t>Generate actionable investment insights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570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AE967-EDF5-2516-B677-7B5BAAF60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Sources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B88DD6F-1DA4-8847-5499-25600A77B3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7202304"/>
              </p:ext>
            </p:extLst>
          </p:nvPr>
        </p:nvGraphicFramePr>
        <p:xfrm>
          <a:off x="838200" y="1592824"/>
          <a:ext cx="10515600" cy="44933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01404429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244885447"/>
                    </a:ext>
                  </a:extLst>
                </a:gridCol>
              </a:tblGrid>
              <a:tr h="449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100234"/>
                  </a:ext>
                </a:extLst>
              </a:tr>
              <a:tr h="449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Fund Master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Scheme metadata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3558295"/>
                  </a:ext>
                </a:extLst>
              </a:tr>
              <a:tr h="449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NAV History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Daily NAV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9400862"/>
                  </a:ext>
                </a:extLst>
              </a:tr>
              <a:tr h="449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Scheme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Return and risk metrics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1827563"/>
                  </a:ext>
                </a:extLst>
              </a:tr>
              <a:tr h="449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Investor Transactions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Investor behavior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313065"/>
                  </a:ext>
                </a:extLst>
              </a:tr>
              <a:tr h="449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AUM by Fund House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Industry growth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3408925"/>
                  </a:ext>
                </a:extLst>
              </a:tr>
              <a:tr h="449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SIP Inflows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SIP trend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1817719"/>
                  </a:ext>
                </a:extLst>
              </a:tr>
              <a:tr h="449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Category Inflows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Fund category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0494266"/>
                  </a:ext>
                </a:extLst>
              </a:tr>
              <a:tr h="449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Portfolio Holdings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Sector allocation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689944"/>
                  </a:ext>
                </a:extLst>
              </a:tr>
              <a:tr h="449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Benchmark Indices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Market comparison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440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817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A0614-B9E2-D26B-2709-D005F3E64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B1A13-7217-713E-B114-C28BBC0DE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Raw CSV Data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Data Extraction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Data Cleaning &amp; Validation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Feature Engineering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SQLite Database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Analytics Layer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Power BI Dashboard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Business Insights</a:t>
            </a:r>
          </a:p>
        </p:txBody>
      </p:sp>
    </p:spTree>
    <p:extLst>
      <p:ext uri="{BB962C8B-B14F-4D97-AF65-F5344CB8AC3E}">
        <p14:creationId xmlns:p14="http://schemas.microsoft.com/office/powerpoint/2010/main" val="2133760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7F840-9EC4-EAA7-8786-360952D72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EDA Highlights – Industry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62A08-8FB9-46BC-9232-66FA66934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2161" cy="455551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Industry Growth Trends</a:t>
            </a:r>
          </a:p>
          <a:p>
            <a:r>
              <a:rPr lang="en-IN" dirty="0"/>
              <a:t>Industry AUM demonstrated consistent growth from 2022–2025. </a:t>
            </a:r>
          </a:p>
          <a:p>
            <a:r>
              <a:rPr lang="en-IN" dirty="0"/>
              <a:t>SIP contributions reached approximately ₹31,000 Crore. </a:t>
            </a:r>
          </a:p>
          <a:p>
            <a:r>
              <a:rPr lang="en-IN" dirty="0"/>
              <a:t>Folio count increased significantly during the analysis period. </a:t>
            </a:r>
          </a:p>
          <a:p>
            <a:r>
              <a:rPr lang="en-IN" dirty="0"/>
              <a:t>Major AMCs continue to dominate market share.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F2AC11-DE5E-4291-F0FE-43E5D4001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90688"/>
            <a:ext cx="5643716" cy="462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812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020DB-7F5A-8405-FE67-7F018A638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EDA Highlights – Investor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705E9-A975-3655-EDD3-00733C25E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46523" cy="4830814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Investor </a:t>
            </a:r>
            <a:r>
              <a:rPr lang="en-IN" b="1" dirty="0" err="1"/>
              <a:t>Behavior</a:t>
            </a:r>
            <a:r>
              <a:rPr lang="en-IN" b="1" dirty="0"/>
              <a:t> Analysis</a:t>
            </a:r>
          </a:p>
          <a:p>
            <a:r>
              <a:rPr lang="en-IN" dirty="0"/>
              <a:t>Significant participation from working-age investors. </a:t>
            </a:r>
          </a:p>
          <a:p>
            <a:r>
              <a:rPr lang="en-IN" dirty="0"/>
              <a:t>SIP remains the dominant investment mode. </a:t>
            </a:r>
          </a:p>
          <a:p>
            <a:r>
              <a:rPr lang="en-IN" dirty="0"/>
              <a:t>Tier-1 cities contribute a major share of investments. </a:t>
            </a:r>
          </a:p>
          <a:p>
            <a:r>
              <a:rPr lang="en-IN" dirty="0"/>
              <a:t>Strong participation observed across multiple states.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CEBD33-42A7-0502-D23E-C09995318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4723" y="1484671"/>
            <a:ext cx="6400800" cy="451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283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8411-A277-5DFD-4D53-D06A72647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Metrics – Return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0E291C-C96D-16B0-A7E8-B8E40EDE40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405" y="2090782"/>
            <a:ext cx="11126495" cy="2899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454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EDEA2-2DCB-60AA-A9B0-D5188A477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– Industry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4E6F77-664D-43E3-FAC2-B81AE8BD55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3329" y="1467594"/>
            <a:ext cx="8922003" cy="495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835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52369-0C96-BBA3-BEFE-3C7C67014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6447-159A-FB10-FACD-BE7DAFB35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Key Findings</a:t>
            </a:r>
          </a:p>
          <a:p>
            <a:r>
              <a:rPr lang="en-IN" dirty="0"/>
              <a:t>Mutual fund industry exhibited strong growth between 2022 and 2025. </a:t>
            </a:r>
          </a:p>
          <a:p>
            <a:r>
              <a:rPr lang="en-IN" dirty="0"/>
              <a:t>SIP inflows reached record levels. </a:t>
            </a:r>
          </a:p>
          <a:p>
            <a:r>
              <a:rPr lang="en-IN" dirty="0"/>
              <a:t>Leading AMCs maintained dominant market positions. </a:t>
            </a:r>
          </a:p>
          <a:p>
            <a:r>
              <a:rPr lang="en-IN" dirty="0"/>
              <a:t>Risk-adjusted metrics identified top-performing schemes. </a:t>
            </a:r>
          </a:p>
          <a:p>
            <a:r>
              <a:rPr lang="en-IN" dirty="0"/>
              <a:t>Investor participation continued to expand across regions.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0143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2606E-4138-AE83-E861-8C44D5474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ECA91-CEC0-FB28-58C0-C7594002B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/>
              <a:t>THANK YOU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3312869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</Words>
  <Application>Microsoft Office PowerPoint</Application>
  <PresentationFormat>Widescreen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Mutual Fund Analytics Platform</vt:lpstr>
      <vt:lpstr>Problem Statement &amp; Objectives</vt:lpstr>
      <vt:lpstr>Data Sources</vt:lpstr>
      <vt:lpstr>System Architecture</vt:lpstr>
      <vt:lpstr>EDA Highlights – Industry Analysis</vt:lpstr>
      <vt:lpstr>EDA Highlights – Investor Analysis</vt:lpstr>
      <vt:lpstr>Performance Metrics – Return Analysis</vt:lpstr>
      <vt:lpstr>Dashboard – Industry Overview</vt:lpstr>
      <vt:lpstr>Key Findings &amp; 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SAYANDIP SEN</dc:creator>
  <cp:lastModifiedBy>SAYANDIP SEN</cp:lastModifiedBy>
  <cp:revision>1</cp:revision>
  <dcterms:created xsi:type="dcterms:W3CDTF">2026-06-13T11:28:03Z</dcterms:created>
  <dcterms:modified xsi:type="dcterms:W3CDTF">2026-06-13T11:28:20Z</dcterms:modified>
</cp:coreProperties>
</file>